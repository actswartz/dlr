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8263"/>
  <p:notesSz cx="5148263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84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etterstack.com/community/guides/linux/ansible-errors/#:~:text=Since%20Ansible%20operates%20by%20connecting,is%20crucial%20for%20effective%20troubleshooting" TargetMode="External"/><Relationship Id="rId5" Type="http://schemas.openxmlformats.org/officeDocument/2006/relationships/hyperlink" Target="https://docs.ansible.com/projects/ansible/latest/playbook_guide/playbooks_error_handling.html#:~:text=Error%20handling%20in%20playbooks%EF%83%81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sible.com/projects/ansible/latest/playbook_guide/playbooks_error_handling.html#:~:text=By%20default%2C%20Ansible%20stops%20executing,continue%20despite%20of%20the%20failure" TargetMode="External"/><Relationship Id="rId7" Type="http://schemas.openxmlformats.org/officeDocument/2006/relationships/hyperlink" Target="https://betterstack.com/community/guides/linux/ansible-errors/#:~:text=Undefined%20variabl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etterstack.com/community/guides/linux/ansible-errors/#:~:text=Host%20key%20verification%20failures" TargetMode="External"/><Relationship Id="rId5" Type="http://schemas.openxmlformats.org/officeDocument/2006/relationships/hyperlink" Target="https://betterstack.com/community/guides/linux/ansible-errors/#:~:text=Privilege%20escalation%20errors" TargetMode="External"/><Relationship Id="rId4" Type="http://schemas.openxmlformats.org/officeDocument/2006/relationships/hyperlink" Target="https://betterstack.com/community/guides/linux/ansible-errors/#:~:text=Since%20Ansible%20operates%20by%20connecting,is%20crucial%20for%20effective%20troubleshootin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ansible.com/projects/ansible/latest/playbook_guide/playbooks_error_handling.html#:~:text=New%20in%20version%202" TargetMode="External"/><Relationship Id="rId5" Type="http://schemas.openxmlformats.org/officeDocument/2006/relationships/hyperlink" Target="https://docs.ansible.com/projects/ansible/latest/playbook_guide/playbooks_error_handling.html#:~:text=By%20default%2C%20Ansible%20stops%20executing,continue%20despite%20of%20the%20failure" TargetMode="Externa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ansible.com/projects/ansible/latest/playbook_guide/playbooks_error_handling.html#:~:text=Defining%20%E2%80%9Cchanged%E2%80%9D%20%2030" TargetMode="External"/><Relationship Id="rId5" Type="http://schemas.openxmlformats.org/officeDocument/2006/relationships/hyperlink" Target="https://docs.ansible.com/projects/ansible/latest/playbook_guide/playbooks_error_handling.html#:~:text=Ansible%20lets%20you%20define%20what,operator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ansible.com/projects/ansible/latest/collections/ansible/builtin/meta_module.html#:~:text=specified%20in%20the%20play%E2%80%99s%20list,cleared%2C%20including%20the%20fact%20cache" TargetMode="External"/><Relationship Id="rId4" Type="http://schemas.openxmlformats.org/officeDocument/2006/relationships/hyperlink" Target="https://docs.ansible.com/projects/ansible/latest/playbook_guide/playbooks_error_handling.html#:~:text=Sometimes%20you%20want%20a%20failure,percentage%20of%20hosts%20has%20faile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ansible.com/projects/ansible/latest/playbook_guide/playbooks_blocks.html#block-error-handling#:~:text=Handling%20errors%20with%20blocks%20,24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ansible.com/projects/ansible/latest/collections/ansible/builtin/fail_module.html#:~:text=,progress%20with%20a%20custom%20message" TargetMode="External"/><Relationship Id="rId5" Type="http://schemas.openxmlformats.org/officeDocument/2006/relationships/hyperlink" Target="https://docs.ansible.com/projects/ansible/latest/collections/ansible/builtin/assert_module.html#:~:text=ansible,expressions%20are%20true%EF%83%81" TargetMode="Externa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sible.com/projects/ansible/latest/dev_guide/developing_plugins.html#:~:text=You%20should%20return%20errors%20encountered,string%20compatibility%20across%20Python%20version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betterstack.com/community/guides/linux/ansible-errors/#:~:text=Privilege%20escalation%20errors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betterstack.com/community/guides/linux/ansible-errors/#:~:text=Since%20Ansible%20operates%20by%20connecting,is%20crucial%20for%20effective%20troubleshoot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hyperlink" Target="https://betterstack.com/community/guides/linux/ansible-errors/#:~:text=Undefined%20variables" TargetMode="External"/><Relationship Id="rId4" Type="http://schemas.openxmlformats.org/officeDocument/2006/relationships/image" Target="../media/image9.png"/><Relationship Id="rId9" Type="http://schemas.openxmlformats.org/officeDocument/2006/relationships/hyperlink" Target="https://betterstack.com/community/guides/linux/ansible-errors/#:~:text=Host%20key%20verification%20failures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ansible.com/projects/ansible/latest/collections/ansible/builtin/fail_module.html#:~:text=,progress%20with%20a%20custom%20message" TargetMode="External"/><Relationship Id="rId3" Type="http://schemas.openxmlformats.org/officeDocument/2006/relationships/image" Target="../media/image12.png"/><Relationship Id="rId7" Type="http://schemas.openxmlformats.org/officeDocument/2006/relationships/hyperlink" Target="https://docs.ansible.com/projects/ansible/latest/collections/ansible/builtin/assert_module.html#:~:text=ansible,expressions%20are%20true%EF%83%8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ansible.com/projects/ansible/latest/playbook_guide/playbooks_blocks.html#block-error-handling#:~:text=Handling%20errors%20with%20blocks%20,24" TargetMode="External"/><Relationship Id="rId5" Type="http://schemas.openxmlformats.org/officeDocument/2006/relationships/hyperlink" Target="https://docs.ansible.com/projects/ansible/latest/playbook_guide/playbooks_error_handling.html#:~:text=Sometimes%20you%20want%20a%20failure,percentage%20of%20hosts%20has%20failed" TargetMode="External"/><Relationship Id="rId4" Type="http://schemas.openxmlformats.org/officeDocument/2006/relationships/hyperlink" Target="https://docs.ansible.com/projects/ansible/latest/playbook_guide/playbooks_error_handling.html#:~:text=Ansible%20lets%20you%20define%20what,operator" TargetMode="External"/><Relationship Id="rId9" Type="http://schemas.openxmlformats.org/officeDocument/2006/relationships/hyperlink" Target="https://betterstack.com/community/guides/linux/ansible-errors/#:~:text=Since%20Ansible%20operates%20by%20connecting,is%20crucial%20for%20effective%20troubleshooting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sible.com/projects/ansible/latest/playbook_guide/playbooks_error_handling.html#:~:text=Error%20handling%20in%20playbooks%EF%83%81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65760"/>
            <a:ext cx="4389120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1097280"/>
            <a:ext cx="4389120" cy="2377440"/>
          </a:xfrm>
          <a:prstGeom prst="rect">
            <a:avLst/>
          </a:prstGeom>
          <a:solidFill>
            <a:srgbClr val="F7F9FC">
              <a:alpha val="90000"/>
            </a:srgbClr>
          </a:solidFill>
          <a:ln w="12700">
            <a:solidFill>
              <a:srgbClr val="F7F9FC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4114800" cy="1463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97D"/>
                </a:solidFill>
              </a:rPr>
              <a:t>Understanding Ansible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1F497D"/>
                </a:solidFill>
              </a:rPr>
              <a:t>Exceptions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41148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35C81"/>
                </a:solidFill>
              </a:rPr>
              <a:t>Effective error handling in automation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97D"/>
                </a:solidFill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" cy="274320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Importance of error handling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74320" cy="274320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Categories of exceptions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274320" cy="274320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ignore_errors &amp; ignore_unreachable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274320" cy="274320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720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148840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failed_when &amp; changed_when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274320" cy="274320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2560320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Aborting plays &amp; meta actions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74320" cy="274320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5720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2971800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Blocks, rescue &amp; always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274320" cy="274320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383280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Assert &amp; fail modules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274320" cy="274320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572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3794760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Plugin &amp; custom exceptions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274320" cy="274320"/>
          </a:xfrm>
          <a:prstGeom prst="ellipse">
            <a:avLst/>
          </a:prstGeom>
          <a:solidFill>
            <a:srgbClr val="F1C232"/>
          </a:solidFill>
          <a:ln w="12700">
            <a:solidFill>
              <a:srgbClr val="F1C2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5720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</a:rPr>
              <a:t>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Troubleshooting &amp; best practices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97D"/>
                </a:solidFill>
              </a:rPr>
              <a:t>Why Error Handling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97D"/>
                </a:solidFill>
              </a:rPr>
              <a:t>Default behaviour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600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Tasks stop on first non‑zero return code or module failure.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Runtime failures propagate and can halt the play.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0" y="109728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66344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97D"/>
                </a:solidFill>
              </a:rPr>
              <a:t>Robust handling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6459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16002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Define failure conditions explicitly.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Ignore non‑critical errors and continue.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Group tasks with rescue and always.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3291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Ansible stops execution on a host when a task fails by default. </a:t>
            </a:r>
            <a:r>
              <a:rPr lang="en-US" sz="1400" i="1" dirty="0">
                <a:solidFill>
                  <a:srgbClr val="444444"/>
                </a:solidFill>
              </a:rPr>
              <a:t>Building resilient playbooks requires anticipating failures and handling them gracefully.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5"/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6"/>
              </a:rPr>
              <a:t>[2]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Categories of Ansible Exceptions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2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Module failure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Return code ≠ 0 or module throws error.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Unreachable host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Host cannot be reached via SSH or connection fails.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Undefined variables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Referencing vars that are not defined.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Privilege escalation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Sudo/become issues or missing credentials.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Host key verification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Unknown or changed SSH host keys.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Plugin/role errors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Custom plugins/roles raising exceptions.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3"/>
              </a:rPr>
              <a:t>[3]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4"/>
              </a:rPr>
              <a:t>[4]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5"/>
              </a:rPr>
              <a:t>[5]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6"/>
              </a:rPr>
              <a:t>[6]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7"/>
              </a:rPr>
              <a:t>[7]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Ignoring Non‑Critical Failures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9144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97D"/>
                </a:solidFill>
              </a:rPr>
              <a:t>ignore_errors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Continue execution when a task fails. Does NOT ignore unreachable hosts or undefined variables.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97D"/>
                </a:solidFill>
              </a:rPr>
              <a:t>ignore_unreachable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Skip hosts that cannot be reached. Added in Ansible 2.7.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5029200" y="1005840"/>
            <a:ext cx="3657600" cy="2103120"/>
          </a:xfrm>
          <a:prstGeom prst="roundRect">
            <a:avLst>
              <a:gd name="adj" fmla="val 2174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5074920" y="1051560"/>
            <a:ext cx="3566160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Install package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foo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 present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ignore_errors: yes
- name: Ping unreachable host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ignore_unreachable: yes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5"/>
              </a:rPr>
              <a:t>[8]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6"/>
              </a:rPr>
              <a:t>[9]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Customising Failure &amp; Change Conditions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9144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97D"/>
                </a:solidFill>
              </a:rPr>
              <a:t>failed_when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Override default failure based on expressions. Combine with or/and explicitly.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97D"/>
                </a:solidFill>
              </a:rPr>
              <a:t>changed_when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Manually set changed status, preventing handlers from firing.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5029200" y="1005840"/>
            <a:ext cx="3657600" cy="2011680"/>
          </a:xfrm>
          <a:prstGeom prst="roundRect">
            <a:avLst>
              <a:gd name="adj" fmla="val 2273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5074920" y="1051560"/>
            <a:ext cx="356616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Check service status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shell: systemctl status myservice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register: result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failed_when: "inactive" in result.stdout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changed_when: </a:t>
            </a:r>
            <a:r>
              <a:rPr lang="en-US" sz="12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5"/>
              </a:rPr>
              <a:t>[10]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6"/>
              </a:rPr>
              <a:t>[11]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Aborting Plays &amp; Controlling Flow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9144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97D"/>
                </a:solidFill>
              </a:rPr>
              <a:t>any_errors_fatal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Abort the entire play when any host fails.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497D"/>
                </a:solidFill>
              </a:rPr>
              <a:t>max_fail_percentage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Stop the play when failures exceed a threshold.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914400"/>
          <a:ext cx="3657600" cy="26883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1400" dirty="0"/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end_play</a:t>
                      </a:r>
                      <a:endParaRPr lang="en-US" sz="1400" dirty="0"/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End the current play cleanly without failing.</a:t>
                      </a:r>
                      <a:endParaRPr lang="en-US" sz="1400" dirty="0"/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end_host</a:t>
                      </a:r>
                      <a:endParaRPr lang="en-US" sz="1400" dirty="0"/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Stop executing further tasks on the current host.</a:t>
                      </a:r>
                      <a:endParaRPr lang="en-US" sz="1400" dirty="0"/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end_batch</a:t>
                      </a:r>
                      <a:endParaRPr lang="en-US" sz="1400" dirty="0"/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Finish the current batch of hosts.</a:t>
                      </a:r>
                      <a:endParaRPr lang="en-US" sz="1400" dirty="0"/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clear_host_errors</a:t>
                      </a:r>
                      <a:endParaRPr lang="en-US" sz="1400" dirty="0"/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Reset failure counters for a host.</a:t>
                      </a:r>
                      <a:endParaRPr lang="en-US" sz="1400" dirty="0"/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2560320"/>
            <a:ext cx="8229600" cy="1280160"/>
          </a:xfrm>
          <a:prstGeom prst="roundRect">
            <a:avLst>
              <a:gd name="adj" fmla="val 3571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502920" y="2606040"/>
            <a:ext cx="8138160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Abort play when critical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meta: end_play
- name: Reset host failures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meta: clear_host_errors</a:t>
            </a:r>
            <a:endParaRPr lang="en-US" sz="1200" dirty="0"/>
          </a:p>
        </p:txBody>
      </p:sp>
      <p:sp>
        <p:nvSpPr>
          <p:cNvPr id="5" name="Text 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4"/>
              </a:rPr>
              <a:t>[12]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5"/>
              </a:rPr>
              <a:t>[13]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Structured Error Handling with Blocks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Group related tasks into a block.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5448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1554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Use rescue to handle failures within the block.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0312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86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Add always to run cleanup or final tasks.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5029200" y="1005840"/>
            <a:ext cx="3657600" cy="2103120"/>
          </a:xfrm>
          <a:prstGeom prst="roundRect">
            <a:avLst>
              <a:gd name="adj" fmla="val 2174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5"/>
          <p:cNvSpPr/>
          <p:nvPr/>
        </p:nvSpPr>
        <p:spPr>
          <a:xfrm>
            <a:off x="5074920" y="1051560"/>
            <a:ext cx="3566160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Attempt actions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command: /bin/false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command: echo "This won't run"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rescue: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debug: msg="Task failed!"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debug: msg="This always runs"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6"/>
              </a:rPr>
              <a:t>[14]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Validation with Assert &amp; Fail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9144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97D"/>
                </a:solidFill>
              </a:rPr>
              <a:t>assert module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Ensures conditions are met; supports custom fail and success messages.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97D"/>
                </a:solidFill>
              </a:rPr>
              <a:t>fail module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Intentionally abort execution with a custom message.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5029200" y="1005840"/>
            <a:ext cx="3657600" cy="2103120"/>
          </a:xfrm>
          <a:prstGeom prst="roundRect">
            <a:avLst>
              <a:gd name="adj" fmla="val 2174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5074920" y="1051560"/>
            <a:ext cx="3566160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Check OS version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ansible_facts[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'os_family'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'Debian'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fail_msg: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 Debian based"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success_msg: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"Correct OS"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- name: Ensure variable is defined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msg: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critical_var is undefined"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when: critical_var is not defined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5"/>
              </a:rPr>
              <a:t>[15]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6"/>
              </a:rPr>
              <a:t>[16]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Custom Exceptions in Plugins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When writing custom modules or plugins, raise explicit exceptions to communicate failures. Use </a:t>
            </a:r>
            <a:r>
              <a:rPr lang="en-US" sz="1400" b="1" dirty="0">
                <a:solidFill>
                  <a:srgbClr val="1F497D"/>
                </a:solidFill>
              </a:rPr>
              <a:t>AnsibleError()</a:t>
            </a:r>
            <a:r>
              <a:rPr lang="en-US" sz="1400" dirty="0">
                <a:solidFill>
                  <a:srgbClr val="444444"/>
                </a:solidFill>
              </a:rPr>
              <a:t> or </a:t>
            </a:r>
            <a:r>
              <a:rPr lang="en-US" sz="1400" b="1" dirty="0">
                <a:solidFill>
                  <a:srgbClr val="1F497D"/>
                </a:solidFill>
              </a:rPr>
              <a:t>AnsibleFilterError()</a:t>
            </a:r>
            <a:r>
              <a:rPr lang="en-US" sz="1400" dirty="0">
                <a:solidFill>
                  <a:srgbClr val="444444"/>
                </a:solidFill>
              </a:rPr>
              <a:t> to notify users and ensure proper handling.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0" y="1005840"/>
            <a:ext cx="3657600" cy="2468880"/>
          </a:xfrm>
          <a:prstGeom prst="roundRect">
            <a:avLst>
              <a:gd name="adj" fmla="val 185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74920" y="1051560"/>
            <a:ext cx="3566160" cy="23774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ansible.errors </a:t>
            </a:r>
            <a:r>
              <a:rPr lang="en-US" sz="12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AnsibleError, AnsibleFilterError
</a:t>
            </a:r>
            <a:r>
              <a:rPr lang="en-US" sz="12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example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to_upper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AnsibleFilterError(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"Value cannot be empty"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value.upper()
</a:t>
            </a:r>
            <a:r>
              <a:rPr lang="en-US" sz="12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 example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run_module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(params):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'mandatory'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params: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AnsibleError(</a:t>
            </a:r>
            <a:r>
              <a:rPr lang="en-US" sz="12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'mandatory parameter missing'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perform work...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3"/>
              </a:rPr>
              <a:t>[17]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Troubleshooting Common Errors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05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97D"/>
                </a:solidFill>
              </a:rPr>
              <a:t>Connection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74320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SSH or network unreachable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Check network, firewall, credentials and SSH service.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659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97D"/>
                </a:solidFill>
              </a:rPr>
              <a:t>Privilege escalation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74320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sudo/become failures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12064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Use --ask-become-pass or configure passwordless sudo.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256032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889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97D"/>
                </a:solidFill>
              </a:rPr>
              <a:t>Host key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74320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Unknown or changed SSH key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12064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Add host key or disable host key checking in ansible.cfg.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57200" y="33832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118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97D"/>
                </a:solidFill>
              </a:rPr>
              <a:t>Undefined variable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274320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Missing or misspelled variables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120640" y="3474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Define variables or use the default filter.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822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C232"/>
                </a:solidFill>
              </a:rPr>
              <a:t>Error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2743200" y="822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C232"/>
                </a:solidFill>
              </a:rPr>
              <a:t>Description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120640" y="822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C232"/>
                </a:solidFill>
              </a:rPr>
              <a:t>Resolution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7"/>
              </a:rPr>
              <a:t>[18]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8"/>
              </a:rPr>
              <a:t>[19]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9"/>
              </a:rPr>
              <a:t>[20]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10"/>
              </a:rPr>
              <a:t>[21]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97D"/>
                </a:solidFill>
              </a:rPr>
              <a:t>Best Practices &amp; Recommendations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Group tasks with block/rescue/always for predictable flow.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Set failed_when and changed_when judiciously to control outcomes.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74520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52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Use ignore_errors sparingly; differentiate unreachable vs. failed.</a:t>
            </a:r>
            <a:endParaRPr lang="en-US" sz="16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0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1520" y="2240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Leverage any_errors_fatal and max_fail_percentage to abort early.</a:t>
            </a:r>
            <a:endParaRPr lang="en-US" sz="16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97480"/>
            <a:ext cx="228600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3152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Validate environment and inputs using assert and fail.</a:t>
            </a:r>
            <a:endParaRPr lang="en-US" sz="16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08960"/>
            <a:ext cx="228600" cy="228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31520" y="3063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Define all variables; provide defaults to avoid undefined errors.</a:t>
            </a:r>
            <a:endParaRPr lang="en-US" sz="16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20440"/>
            <a:ext cx="228600" cy="2286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Check connectivity and configure become &amp; host keys properly.</a:t>
            </a:r>
            <a:endParaRPr lang="en-US" sz="1600" dirty="0"/>
          </a:p>
        </p:txBody>
      </p:sp>
      <p:sp>
        <p:nvSpPr>
          <p:cNvPr id="17" name="Text 8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4"/>
              </a:rPr>
              <a:t>[22]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5"/>
              </a:rPr>
              <a:t>[23]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6"/>
              </a:rPr>
              <a:t>[24]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7"/>
              </a:rPr>
              <a:t>[25]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8"/>
              </a:rPr>
              <a:t>[26]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F1C232"/>
                </a:solidFill>
                <a:hlinkClick r:id="rId9"/>
              </a:rPr>
              <a:t>[27]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97D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686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44444"/>
                </a:solidFill>
              </a:rPr>
              <a:t>Robust automation demands intentional error handling.
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• Understand failure modes: module errors, unreachable hosts, privilege issues and undefined variables.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• Tailor behaviour with ignore_errors, failed_when, changed_when and meta actions.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• Use structured blocks, assert/fail modules and custom exceptions to build resilient plays.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• Troubleshoot common issues proactively and adopt best practices.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</a:rPr>
              <a:t>By embracing these techniques, you ensure your Ansible automation remains reliable and maintainable.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F1C232"/>
                </a:solidFill>
                <a:hlinkClick r:id="rId3"/>
              </a:rPr>
              <a:t>[28]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1096</Words>
  <Application>Microsoft Macintosh PowerPoint</Application>
  <PresentationFormat>Custom</PresentationFormat>
  <Paragraphs>220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John Swartz</cp:lastModifiedBy>
  <cp:revision>1</cp:revision>
  <dcterms:created xsi:type="dcterms:W3CDTF">2025-12-11T16:07:46Z</dcterms:created>
  <dcterms:modified xsi:type="dcterms:W3CDTF">2025-12-11T17:55:42Z</dcterms:modified>
</cp:coreProperties>
</file>